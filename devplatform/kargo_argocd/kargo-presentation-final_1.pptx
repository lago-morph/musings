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Introduction: Audience already familiar with ArgoCD deployment capabilities.</a:t>
            </a:r>
          </a:p>
          <a:p>
            <a:r>
              <a:t>Today's focus: Understanding what Kargo adds to existing ArgoCD setups.</a:t>
            </a:r>
          </a:p>
          <a:p>
            <a:r>
              <a:t>Structure: Problem identification → Solution overview → Core concepts → Implementation patterns.</a:t>
            </a:r>
          </a:p>
          <a:p>
            <a:r>
              <a:t>Duration: 30 minutes with Q&amp;A buffer.</a:t>
            </a:r>
          </a:p>
          <a:p>
            <a:r>
              <a:t>Transition: "You're using ArgoCD successfully. But you've encountered a gap..."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ArgoCD excels at continuous deployment - syncing Git state to Kubernetes clusters.</a:t>
            </a:r>
          </a:p>
          <a:p>
            <a:r>
              <a:t>Critical gap: No built-in concept of progressive promotion between environments.</a:t>
            </a:r>
          </a:p>
          <a:p>
            <a:r>
              <a:t>Current state: Teams use manual processes, custom scripts, or CI/CD orchestration.</a:t>
            </a:r>
          </a:p>
          <a:p>
            <a:r>
              <a:t>Pain points: Version coordination, audit trails, rollback complexity.</a:t>
            </a:r>
          </a:p>
          <a:p>
            <a:r>
              <a:t>This gap is precisely what Kargo addresses. Transition to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Kargo and ArgoCD are complementary, not competitive tools.</a:t>
            </a:r>
          </a:p>
          <a:p>
            <a:r>
              <a:t>Separation of concerns: Kargo decides what to promote and when, ArgoCD handles actual deployment.</a:t>
            </a:r>
          </a:p>
          <a:p>
            <a:r>
              <a:t>Both tools remain independent - can function separately.</a:t>
            </a:r>
          </a:p>
          <a:p>
            <a:r>
              <a:t>Kubernetes-native integration through Custom Resources, not API calls.</a:t>
            </a:r>
          </a:p>
          <a:p>
            <a:r>
              <a:t>Built by same team that created Argo project - design consistency and compatibility.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Warehouses are the entry point of Kargo workflow - artifact discovery mechanism.</a:t>
            </a:r>
          </a:p>
          <a:p>
            <a:r>
              <a:t>Pull-based monitoring rather than push-based triggers (GitOps principle).</a:t>
            </a:r>
          </a:p>
          <a:p>
            <a:r>
              <a:t>Can subscribe to multiple repository types simultaneously.</a:t>
            </a:r>
          </a:p>
          <a:p>
            <a:r>
              <a:t>Version selection strategies: semver constraints, lexical ordering, newest build.</a:t>
            </a:r>
          </a:p>
          <a:p>
            <a:r>
              <a:t>Warehouses don't deploy - they discover and package into Freight.</a:t>
            </a:r>
          </a:p>
          <a:p>
            <a:r>
              <a:t>Webhook support for immediate discovery vs. polling intervals.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concept: Freight is NOT unified versioning across all components.</a:t>
            </a:r>
          </a:p>
          <a:p>
            <a:r>
              <a:t>Each artifact maintains its own version, bundled together as tested combination.</a:t>
            </a:r>
          </a:p>
          <a:p>
            <a:r>
              <a:t>Immutability ensures reproducibility - Freight never changes after creation.</a:t>
            </a:r>
          </a:p>
          <a:p>
            <a:r>
              <a:t>Cryptographic identification via SHA-1 hash plus human-friendly alias.</a:t>
            </a:r>
          </a:p>
          <a:p>
            <a:r>
              <a:t>This is the "cargo" that moves through promotion pipeline as atomic unit.</a:t>
            </a:r>
          </a:p>
          <a:p>
            <a:r>
              <a:t>Enables independent artifact versioning while maintaining coordinated promotion.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Stages are promotion targets, though typically map to environments.</a:t>
            </a:r>
          </a:p>
          <a:p>
            <a:r>
              <a:t>Each Stage defines: which Freight it accepts, how promotion executes.</a:t>
            </a:r>
          </a:p>
          <a:p>
            <a:r>
              <a:t>Promotion mechanisms are fully declarative via Kubernetes resources.</a:t>
            </a:r>
          </a:p>
          <a:p>
            <a:r>
              <a:t>Built-in health monitoring and verification support.</a:t>
            </a:r>
          </a:p>
          <a:p>
            <a:r>
              <a:t>Stages form pipelines by subscribing to upstream Stages or Warehouses.</a:t>
            </a:r>
          </a:p>
          <a:p>
            <a:r>
              <a:t>Auto-promotion for lower environments, manual gates for production typical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architectural decision: Kubernetes-native integration, not REST API calls.</a:t>
            </a:r>
          </a:p>
          <a:p>
            <a:r>
              <a:t>Kargo modifies ArgoCD Application Custom Resources via Kubernetes API.</a:t>
            </a:r>
          </a:p>
          <a:p>
            <a:r>
              <a:t>Decoupled design - no tight coupling between systems.</a:t>
            </a:r>
          </a:p>
          <a:p>
            <a:r>
              <a:t>Authorization through annotations - explicit permission delegation.</a:t>
            </a:r>
          </a:p>
          <a:p>
            <a:r>
              <a:t>RBAC-based security model using standard Kubernetes mechanisms.</a:t>
            </a:r>
          </a:p>
          <a:p>
            <a:r>
              <a:t>ArgoCD sees standard CR modifications, doesn't need Kargo awareness.</a:t>
            </a:r>
          </a:p>
          <a:p>
            <a:r>
              <a:t>Both tools can operate independently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picture of one promotion cycle from start to verification.</a:t>
            </a:r>
          </a:p>
          <a:p>
            <a:r>
              <a:t>State-driven workflow, not event-driven - continuous reconciliation.</a:t>
            </a:r>
          </a:p>
          <a:p>
            <a:r>
              <a:t>Each step is declarative via Kubernetes resources.</a:t>
            </a:r>
          </a:p>
          <a:p>
            <a:r>
              <a:t>Failure at any step halts progression - safe by default.</a:t>
            </a:r>
          </a:p>
          <a:p>
            <a:r>
              <a:t>Automatic audit trail through Git commits and Kubernetes events.</a:t>
            </a:r>
          </a:p>
          <a:p>
            <a:r>
              <a:t>Health monitoring continues until Stage is marked healthy.</a:t>
            </a:r>
          </a:p>
          <a:p>
            <a:r>
              <a:t>Verification enables progressive promotion to next Stage.</a:t>
            </a:r>
          </a:p>
          <a:p>
            <a:r>
              <a:t>Entire workflow visible through kubectl and Kargo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Modern reality: polyrepo architectures are common.</a:t>
            </a:r>
          </a:p>
          <a:p>
            <a:r>
              <a:t>Application code, infrastructure code, configuration often separate repositories.</a:t>
            </a:r>
          </a:p>
          <a:p>
            <a:r>
              <a:t>Coordination problem: ensuring compatible versions promoted together.</a:t>
            </a:r>
          </a:p>
          <a:p>
            <a:r>
              <a:t>Kargo solution: Warehouse subscribes to multiple repositories simultaneously.</a:t>
            </a:r>
          </a:p>
          <a:p>
            <a:r>
              <a:t>Freight bundles one specific version from each subscribed repository.</a:t>
            </a:r>
          </a:p>
          <a:p>
            <a:r>
              <a:t>Alternative to unified versioning - independent artifact versions with coordinated promotion.</a:t>
            </a:r>
          </a:p>
          <a:p>
            <a:r>
              <a:t>Each artifact maintains its own lifecycle while promotion stays synchronized.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Real-world problem: timing issues can create incompatible Freight.</a:t>
            </a:r>
          </a:p>
          <a:p>
            <a:r>
              <a:t>Example: frontend v2.0 discovered before backend v2.0 ready, creates incompatible bundle.</a:t>
            </a:r>
          </a:p>
          <a:p>
            <a:r>
              <a:t>Solution 1 (most powerful): Expression-based creation criteria.</a:t>
            </a:r>
          </a:p>
          <a:p>
            <a:r>
              <a:t>Solution 2: Manual Freight assembly for complex compatibility rules.</a:t>
            </a:r>
          </a:p>
          <a:p>
            <a:r>
              <a:t>Solution 3: Separate Warehouses for fast-moving vs slow-moving artifacts.</a:t>
            </a:r>
          </a:p>
          <a:p>
            <a:r>
              <a:t>Solution 4: Gatekeeper Stage filters bad combinations before important environments.</a:t>
            </a:r>
          </a:p>
          <a:p>
            <a:r>
              <a:t>Choose strategy based on coordination requirements and team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Freight immutability is feature, not limitation - ensures reproducibility.</a:t>
            </a:r>
          </a:p>
          <a:p>
            <a:r>
              <a:t>Cannot merge existing Freight - would break audit trail and create untested combinations.</a:t>
            </a:r>
          </a:p>
          <a:p>
            <a:r>
              <a:t>Manual assembly: Warehouse discovers multiple versions, user selects compatible set.</a:t>
            </a:r>
          </a:p>
          <a:p>
            <a:r>
              <a:t>Freight cloning use case: Production hotfix - clone prod Freight, replace one buggy component.</a:t>
            </a:r>
          </a:p>
          <a:p>
            <a:r>
              <a:t>Multiple Warehouses: Different artifacts can promote at different rates.</a:t>
            </a:r>
          </a:p>
          <a:p>
            <a:r>
              <a:t>Example: Promote images daily, configuration changes weekly.</a:t>
            </a:r>
          </a:p>
          <a:p>
            <a:r>
              <a:t>Design decisions based on organizational requirements and coupling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Enterprise requirement: tracking releases beyond Kargo system.</a:t>
            </a:r>
          </a:p>
          <a:p>
            <a:r>
              <a:t>Kargo provides excellent internal tracking via Freight and Git commits.</a:t>
            </a:r>
          </a:p>
          <a:p>
            <a:r>
              <a:t>External visibility needs: Git tags for humans, manifests for automation.</a:t>
            </a:r>
          </a:p>
          <a:p>
            <a:r>
              <a:t>Promotion process can create both simultaneously.</a:t>
            </a:r>
          </a:p>
          <a:p>
            <a:r>
              <a:t>Git tags provide external visibility without Kargo access.</a:t>
            </a:r>
          </a:p>
          <a:p>
            <a:r>
              <a:t>Release manifests enable programmatic querying and integration.</a:t>
            </a:r>
          </a:p>
          <a:p>
            <a:r>
              <a:t>Hybrid approach: rich internal tracking plus external accessibility.</a:t>
            </a:r>
          </a:p>
          <a:p>
            <a:r>
              <a:t>Best of both worlds without duplication.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architectural approaches have merit - not one-size-fits-all.</a:t>
            </a:r>
          </a:p>
          <a:p>
            <a:r>
              <a:t>Unified versioning: Single version tag across all components (v1.5.0 everywhere).</a:t>
            </a:r>
          </a:p>
          <a:p>
            <a:r>
              <a:t>Advantages: Simple to communicate, easy mental model.</a:t>
            </a:r>
          </a:p>
          <a:p>
            <a:r>
              <a:t>Disadvantages: Tight coupling, requires rebuilding everything for any change.</a:t>
            </a:r>
          </a:p>
          <a:p>
            <a:r>
              <a:t>Freight approach: Each artifact maintains independent version.</a:t>
            </a:r>
          </a:p>
          <a:p>
            <a:r>
              <a:t>Advantages: Flexible, handles independent lifecycles, selective promotion.</a:t>
            </a:r>
          </a:p>
          <a:p>
            <a:r>
              <a:t>Disadvantages: More complex, requires coordination mechanism.</a:t>
            </a:r>
          </a:p>
          <a:p>
            <a:r>
              <a:t>Hybrid approaches possible: unified major versions, independent minor/patch.</a:t>
            </a:r>
          </a:p>
          <a:p>
            <a:r>
              <a:t>Migration path exists from unified to Freight-based promotion.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health encompasses more than just Application health.</a:t>
            </a:r>
          </a:p>
          <a:p>
            <a:r>
              <a:t>Multiple health indicators: Application sync, health, verification, custom checks.</a:t>
            </a:r>
          </a:p>
          <a:p>
            <a:r>
              <a:t>Integration with Argo Rollouts for progressive delivery patterns.</a:t>
            </a:r>
          </a:p>
          <a:p>
            <a:r>
              <a:t>Custom verification via Kubernetes Jobs or external systems.</a:t>
            </a:r>
          </a:p>
          <a:p>
            <a:r>
              <a:t>Verification gates prevent premature promotion to next Stage.</a:t>
            </a:r>
          </a:p>
          <a:p>
            <a:r>
              <a:t>Health monitoring continuous throughout promotion lifecycle.</a:t>
            </a:r>
          </a:p>
          <a:p>
            <a:r>
              <a:t>Failed verification stops progression - safe by default.</a:t>
            </a:r>
          </a:p>
          <a:p>
            <a:r>
              <a:t>Enables canary deployments, blue-green, other advanced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one-size-fits-all - pattern selection based on requirements.</a:t>
            </a:r>
          </a:p>
          <a:p>
            <a:r>
              <a:t>Common case: Single Warehouse for tightly coupled components (image + config).</a:t>
            </a:r>
          </a:p>
          <a:p>
            <a:r>
              <a:t>Grouped services: Microservices with interdependencies promoted together.</a:t>
            </a:r>
          </a:p>
          <a:p>
            <a:r>
              <a:t>Independent pipelines: Different promotion cadences for different artifact types.</a:t>
            </a:r>
          </a:p>
          <a:p>
            <a:r>
              <a:t>Gatekeeper pattern: Initial Stage filters invalid combinations before important environments.</a:t>
            </a:r>
          </a:p>
          <a:p>
            <a:r>
              <a:t>Selection criteria: Component coupling, change frequency, risk tolerance.</a:t>
            </a:r>
          </a:p>
          <a:p>
            <a:r>
              <a:t>Most teams start with common pattern, evolve to more complex as needs arise.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GitOps repository structure affects promotion workflow.</a:t>
            </a:r>
          </a:p>
          <a:p>
            <a:r>
              <a:t>Recommended: Stage-specific branches for rendered manifests.</a:t>
            </a:r>
          </a:p>
          <a:p>
            <a:r>
              <a:t>Clear separation of environment states, independent histories.</a:t>
            </a:r>
          </a:p>
          <a:p>
            <a:r>
              <a:t>Easy rollback per environment - checkout previous commit on branch.</a:t>
            </a:r>
          </a:p>
          <a:p>
            <a:r>
              <a:t>Not merge-based Git Flow - branches are independent storage.</a:t>
            </a:r>
          </a:p>
          <a:p>
            <a:r>
              <a:t>Alternative: Single branch with path-based separation.</a:t>
            </a:r>
          </a:p>
          <a:p>
            <a:r>
              <a:t>Path filter requirement: Prevent Warehouse from triggering on own promotion outputs.</a:t>
            </a:r>
          </a:p>
          <a:p>
            <a:r>
              <a:t>Feedback loop prevention critical for stability.</a:t>
            </a:r>
          </a:p>
          <a:p>
            <a:r>
              <a:t>Choose based on team Git workflow preferences and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Production-tested recommendations from real deployments.</a:t>
            </a:r>
          </a:p>
          <a:p>
            <a:r>
              <a:t>Repository separation: Source code repos separate from GitOps manifest repos.</a:t>
            </a:r>
          </a:p>
          <a:p>
            <a:r>
              <a:t>Prevents conflicts, enables different access controls.</a:t>
            </a:r>
          </a:p>
          <a:p>
            <a:r>
              <a:t>Freight creation criteria prevent incompatible combinations proactively.</a:t>
            </a:r>
          </a:p>
          <a:p>
            <a:r>
              <a:t>Automation strategy: Auto-promote dev/test, manual approval for production.</a:t>
            </a:r>
          </a:p>
          <a:p>
            <a:r>
              <a:t>Verification at each Stage before allowing next promotion.</a:t>
            </a:r>
          </a:p>
          <a:p>
            <a:r>
              <a:t>RBAC-based access control for production promotion approvals.</a:t>
            </a:r>
          </a:p>
          <a:p>
            <a:r>
              <a:t>Security principle: Least privilege via Kubernetes RBAC.</a:t>
            </a:r>
          </a:p>
          <a:p>
            <a:r>
              <a:t>Balance automation with control based on risk tolerance.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issues encountered in real deployments with quick fixes.</a:t>
            </a:r>
          </a:p>
          <a:p>
            <a:r>
              <a:t>Incompatible Freight: Use creation criteria expressions to prevent.</a:t>
            </a:r>
          </a:p>
          <a:p>
            <a:r>
              <a:t>Feedback loops: Warehouse triggering on own promotion output - use path filters.</a:t>
            </a:r>
          </a:p>
          <a:p>
            <a:r>
              <a:t>Slow artifact discovery: Add webhooks for immediate notification.</a:t>
            </a:r>
          </a:p>
          <a:p>
            <a:r>
              <a:t>Application not syncing: Verify authorization annotation present and correct.</a:t>
            </a:r>
          </a:p>
          <a:p>
            <a:r>
              <a:t>Lost context externally: Implement Git tagging in promotion process.</a:t>
            </a:r>
          </a:p>
          <a:p>
            <a:r>
              <a:t>Most issues are configuration, not bugs.</a:t>
            </a:r>
          </a:p>
          <a:p>
            <a:r>
              <a:t>Diagnostic approach: Check Warehouse status, Promotion logs, Application events.</a:t>
            </a:r>
          </a:p>
          <a:p>
            <a:r>
              <a:t>Prevention better than cure - use criteria and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Low-risk adoption strategy for existing ArgoCD environments.</a:t>
            </a:r>
          </a:p>
          <a:p>
            <a:r>
              <a:t>Prerequisites already in place for most teams: Kubernetes cluster, ArgoCD, GitOps repositories.</a:t>
            </a:r>
          </a:p>
          <a:p>
            <a:r>
              <a:t>Start with single non-critical application, two stages (dev, staging).</a:t>
            </a:r>
          </a:p>
          <a:p>
            <a:r>
              <a:t>ArgoCD continues working as-is - no disruption to existing deployments.</a:t>
            </a:r>
          </a:p>
          <a:p>
            <a:r>
              <a:t>Learn Kargo patterns and concepts with low stakes.</a:t>
            </a:r>
          </a:p>
          <a:p>
            <a:r>
              <a:t>Expand gradually: Add production stage, additional applications.</a:t>
            </a:r>
          </a:p>
          <a:p>
            <a:r>
              <a:t>Advanced patterns come later: Multiple Warehouses, verification, complex criteria.</a:t>
            </a:r>
          </a:p>
          <a:p>
            <a:r>
              <a:t>Team can learn incrementally without big-bang migration.</a:t>
            </a:r>
          </a:p>
          <a:p>
            <a:r>
              <a:t>Parallel operation: Some apps via Kargo, others traditional while transitioning.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core concepts: Kargo addresses promotion gap in ArgoCD.</a:t>
            </a:r>
          </a:p>
          <a:p>
            <a:r>
              <a:t>Complementary relationship - deployment engine plus promotion orchestration.</a:t>
            </a:r>
          </a:p>
          <a:p>
            <a:r>
              <a:t>Freight concept critical: bundled artifacts, not unified versioning.</a:t>
            </a:r>
          </a:p>
          <a:p>
            <a:r>
              <a:t>Declarative workflows via Kubernetes resources - GitOps principles maintained.</a:t>
            </a:r>
          </a:p>
          <a:p>
            <a:r>
              <a:t>Built by Argo creators - production-ready, actively maintained.</a:t>
            </a:r>
          </a:p>
          <a:p>
            <a:r>
              <a:t>Point to backup slides for detailed examples and troubleshooting.</a:t>
            </a:r>
          </a:p>
          <a:p>
            <a:r>
              <a:t>Resources available: comprehensive documentation, active community.</a:t>
            </a:r>
          </a:p>
          <a:p>
            <a:r>
              <a:t>Open for questions - backup slides cover common deep-dive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Warehouse subscribes to multiple artifact types. Freight creation criteria ensures frontend and backend versions match before creating Freight. Discovery limits prevent excessive version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Stage accepts Freight verified in staging. Manual promotion required (no auto-promotion). Promotion template updates GitOps repo and triggers ArgoCD 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Authorization annotation grants production Stage permission to patch this Application. Auto-sync ensures ArgoCD deploys changes immediately. targetRevision points to stage-specific branch updated by Kargo.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Criteria prevent Warehouse from creating Freight with incompatible artifact versions. Use expressions for tag matching, version filtering, date constraints, or complex combinations.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promotion workflow: clone repos, update images, build manifests, commit, push, and trigger ArgoCD. Uses step outputs (commit SHA) to update Application targetRevision.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Git tags during production promotions for external tracking. Tags include complete component manifest, Freight reference, and timestamp. Release manifest enables programmatic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multiple Warehouses when artifacts have different change frequencies. Stage requests Freight from both Warehouses. Enables promoting images daily while config changes weekly.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Freight cloning creates new Freight based on existing production Freight. Replace only buggy component while keeping all other artifacts at production versions. Enables rapid hotfix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Verification ensures Freight is healthy before marking as verified for next Stage. AnalysisTemplate defines health checks: HTTP endpoints, Prometheus metrics, custom tests. Failed verification prevents promotion.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issues are configuration-related. Check Warehouse status for discovery errors, verify credentials exist, ensure ArgoCD Applications have authorization annotation. Review Promotion status for detailed error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Kargo uses expressions in promotion templates and Freight creation criteria. Access context variables, artifact metadata, step outputs, and variables. Use utility functions for timestamps and formatting.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example showing Warehouse tracking 3 microservices + Helm chart, dev Stage with auto-promotion. Production would add verification and manual approval. Demonstrates real-world multi-service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12121"/>
                </a:solidFill>
              </a:defRPr>
            </a:pPr>
            <a:r>
              <a:t>Kargo: GitOps Promotion for ArgoCD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57575"/>
                </a:solidFill>
              </a:defRPr>
            </a:pPr>
            <a:r>
              <a:t>Solving the Multi-Environment Deployment Gap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What ArgoCD Doesn't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ArgoCD syncs Git to Kubernetes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Missing: Promotion workflow orchestration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No dev → staging → prod concept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No artifact version coordination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Manual or scripted promotions required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Kargo: Promotion Orchestration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ArgoCD: Deployment engine (how)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Kargo: Promotion orchestrator (what, when)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Declarative promotion workflows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Multi-stage artifact coordination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Built by Argo creators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24368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Warehouses: Artifact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Monitor repositories for new artifacts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Images, Git commits, Helm charts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Apply version constraints (semver)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Automatic discovery with webhooks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Produce Freight when versions found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30495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Freight: Immutable Artifact Bundles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12121"/>
                </a:solidFill>
                <a:latin typeface="Arial"/>
              </a:defRPr>
            </a:pPr>
            <a:r>
              <a:t>• Bundle of specific artifact versions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12121"/>
                </a:solidFill>
                <a:latin typeface="Arial"/>
              </a:defRPr>
            </a:pPr>
            <a:r>
              <a:t>• NOT a single version number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12121"/>
                </a:solidFill>
                <a:latin typeface="Arial"/>
              </a:defRPr>
            </a:pPr>
            <a:r>
              <a:t>• Contains: digests, SHAs, versions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12121"/>
                </a:solidFill>
                <a:latin typeface="Arial"/>
              </a:defRPr>
            </a:pPr>
            <a:r>
              <a:t>• Immutable, cryptographically identified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12121"/>
                </a:solidFill>
                <a:latin typeface="Arial"/>
              </a:defRPr>
            </a:pPr>
            <a:r>
              <a:t>• Promoted as atomic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  <a:latin typeface="Consolas"/>
              </a:defRPr>
            </a:pPr>
            <a:r>
              <a:t># Freight bundle structure</a:t>
            </a:r>
            <a:br/>
            <a:r>
              <a:t>apiVersion: kargo.akuity.io/v1alpha1</a:t>
            </a:r>
            <a:br/>
            <a:r>
              <a:t>kind: Freight</a:t>
            </a:r>
            <a:br/>
            <a:r>
              <a:t>metadata:</a:t>
            </a:r>
            <a:br/>
            <a:r>
              <a:t>  name: abc123def456  # SHA-1 hash</a:t>
            </a:r>
            <a:br/>
            <a:r>
              <a:t>  alias: brave-eagle  # Human-friendly</a:t>
            </a:r>
            <a:br/>
            <a:r>
              <a:t>artifacts:</a:t>
            </a:r>
            <a:br/>
            <a:r>
              <a:t>  images:</a:t>
            </a:r>
            <a:br/>
            <a:r>
              <a:t>    - repoURL: myregistry.io/frontend</a:t>
            </a:r>
            <a:br/>
            <a:r>
              <a:t>      tag: v2.1.0</a:t>
            </a:r>
            <a:br/>
            <a:r>
              <a:t>      digest: sha256:abc...</a:t>
            </a:r>
            <a:br/>
            <a:r>
              <a:t>    - repoURL: myregistry.io/backend</a:t>
            </a:r>
            <a:br/>
            <a:r>
              <a:t>      tag: v3.0.1</a:t>
            </a:r>
            <a:br/>
            <a:r>
              <a:t>      digest: sha256:def...</a:t>
            </a:r>
            <a:br/>
            <a:r>
              <a:t>  charts:</a:t>
            </a:r>
            <a:br/>
            <a:r>
              <a:t>    - name: myapp</a:t>
            </a:r>
            <a:br/>
            <a:r>
              <a:t>      version: v0.5.2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Stages: Promotion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Represent promotion targets (typically environments)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Define Freight acceptance rules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Specify promotion mechanisms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Track health and verification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Chain together to form pipelines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Kubernetes-Native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Kargo patches Application Custom Resources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No REST API calls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Authorization via annotations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Status monitoring via K8s watch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Declarative, not imperative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  <a:latin typeface="Consolas"/>
              </a:defRPr>
            </a:pPr>
            <a:r>
              <a:t># ArgoCD Application annotation</a:t>
            </a:r>
            <a:br/>
            <a:r>
              <a:t>apiVersion: argoproj.io/v1alpha1</a:t>
            </a:r>
            <a:br/>
            <a:r>
              <a:t>kind: Application</a:t>
            </a:r>
            <a:br/>
            <a:r>
              <a:t>metadata:</a:t>
            </a:r>
            <a:br/>
            <a:r>
              <a:t>  annotations:</a:t>
            </a:r>
            <a:br/>
            <a:r>
              <a:t>    kargo.akuity.io/authorized-stage: "myproject:production"</a:t>
            </a:r>
            <a:b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20894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End-to-End Promotion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1. Warehouse detects new artifact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2. Freight created (immutable bundle)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3. Promotion triggered (auto/manual)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4. GitOps repo updated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5. Application CR patched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6. ArgoCD syncs cluster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7. Health monitored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8. Stage verified for next promotion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20299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Coordinating Multiple Artifact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Challenge: Code, charts, config separate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Single Warehouse subscribes to all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Freight bundles specific version each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Promoted together as unit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Prevents version mismatches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23500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Preventing Incompatible Combinations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Problem: Race conditions create bad Freight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Solution 1: Creation criteria (expressions)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Solution 2: Manual assembly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Solution 3: Multiple Warehouses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Solution 4: Gatekeeper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  <a:latin typeface="Consolas"/>
              </a:defRPr>
            </a:pPr>
            <a:r>
              <a:t># Warehouse with Freight creation criteria</a:t>
            </a:r>
            <a:br/>
            <a:r>
              <a:t>apiVersion: kargo.akuity.io/v1alpha1</a:t>
            </a:r>
            <a:br/>
            <a:r>
              <a:t>kind: Warehouse</a:t>
            </a:r>
            <a:br/>
            <a:r>
              <a:t>spec:</a:t>
            </a:r>
            <a:br/>
            <a:r>
              <a:t>  freightCreationPolicy: Automatic</a:t>
            </a:r>
            <a:br/>
            <a:r>
              <a:t>  freightCreationCriteria:</a:t>
            </a:r>
            <a:br/>
            <a:r>
              <a:t>    expression: |</a:t>
            </a:r>
            <a:br/>
            <a:r>
              <a:t>      imageFrom('frontend').Tag == imageFrom('backend').Tag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Working with Freight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Freight is immutable (by design)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Cannot merge Freight after creation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Manual assembly: Select compatible versions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Freight cloning: Template for hotfixes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Multiple Warehouses: Parallel pipelines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Visibility Beyond Kargo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Kargo tracks internally (Freight, commits)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External needs: tags, manifests, dashboards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Promotion steps can create tags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Release manifest files for automation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Hybrid approach recommended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20894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Architectural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Traditional: Single version across artifacts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Kargo: Independent versions, bundled promotion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Unified: Simple, inflexible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Freight: Flexible, more complex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Both valid; context matters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Ensuring Safe Promotions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Stage health ≠ Application health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Multiple health indicators aggregate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Argo Rollouts integration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Custom verification jobs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Progressive promotion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0972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  <a:latin typeface="Consolas"/>
              </a:defRPr>
            </a:pPr>
            <a:r>
              <a:t>Health checks aggregate:</a:t>
            </a:r>
            <a:br/>
            <a:r>
              <a:t>✓ Application sync status</a:t>
            </a:r>
            <a:br/>
            <a:r>
              <a:t>✓ Application health status</a:t>
            </a:r>
            <a:br/>
            <a:r>
              <a:t>✓ Verification results</a:t>
            </a:r>
            <a:br/>
            <a:r>
              <a:t>✓ Custom checks</a:t>
            </a:r>
            <a:br/>
            <a:r>
              <a:t>→ Stage health decision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Deployment Patterns with Kargo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Common: Image + config together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Grouped: Multiple images as unit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Independent: Different cadences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Gatekeeper: Filter bad combinations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Choose based on coupling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0972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  <a:latin typeface="Consolas"/>
              </a:defRPr>
            </a:pPr>
            <a:r>
              <a:t>[Common Case]      [Grouped Services]</a:t>
            </a:r>
            <a:br/>
            <a:r>
              <a:t>Single Warehouse   Multiple images</a:t>
            </a:r>
            <a:br/>
            <a:r>
              <a:t>     ↓                  ↓</a:t>
            </a:r>
            <a:br/>
            <a:r>
              <a:t>  Combined          Promoted</a:t>
            </a:r>
            <a:br/>
            <a:r>
              <a:t>   Freight          together</a:t>
            </a:r>
            <a:br/>
            <a:br/>
            <a:r>
              <a:t>[Independent]      [Gatekeeper]</a:t>
            </a:r>
            <a:br/>
            <a:r>
              <a:t>Multiple           Initial filter</a:t>
            </a:r>
            <a:br/>
            <a:r>
              <a:t>Warehouses         stage first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GitOps Repository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Stage-specific branches (recommended)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Single branch with paths (alternative)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Format: stage/dev, stage/staging, stage/prod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Not Git Flow—independent storage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Use path filters to prevent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0972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  <a:latin typeface="Consolas"/>
              </a:defRPr>
            </a:pPr>
            <a:r>
              <a:t>Stage-Specific Branches:</a:t>
            </a:r>
            <a:br/>
            <a:r>
              <a:t>main (source)</a:t>
            </a:r>
            <a:br/>
            <a:r>
              <a:t>├── stage/dev (rendered)</a:t>
            </a:r>
            <a:br/>
            <a:r>
              <a:t>├── stage/staging (rendered)</a:t>
            </a:r>
            <a:br/>
            <a:r>
              <a:t>└── stage/prod (rendered)</a:t>
            </a:r>
            <a:br/>
            <a:br/>
            <a:r>
              <a:t>Single Branch Alternative:</a:t>
            </a:r>
            <a:br/>
            <a:r>
              <a:t>main</a:t>
            </a:r>
            <a:br/>
            <a:r>
              <a:t>├── builds/dev/</a:t>
            </a:r>
            <a:br/>
            <a:r>
              <a:t>├── builds/staging/</a:t>
            </a:r>
            <a:br/>
            <a:r>
              <a:t>└── builds/prod/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Production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Separate source from GitOps repos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Use Freight creation criteria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Auto-promote lower environments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Manual gates for production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Implement verification at each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0972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  <a:latin typeface="Consolas"/>
              </a:defRPr>
            </a:pPr>
            <a:r>
              <a:t>✓ Repository structure: Source ≠ GitOps</a:t>
            </a:r>
            <a:br/>
            <a:r>
              <a:t>✓ Freight creation: Use criteria expressions</a:t>
            </a:r>
            <a:br/>
            <a:r>
              <a:t>✓ Promotion policy: Auto dev, manual prod</a:t>
            </a:r>
            <a:br/>
            <a:r>
              <a:t>✓ Verification: Define for each stage</a:t>
            </a:r>
            <a:br/>
            <a:r>
              <a:t>✓ Access control: RBAC for approvals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Issues and Quick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Incompatible Freight → Creation criteria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Feedback loops → Path filters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Slow discovery → Webhooks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App not syncing → Check annotation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Lost context → External tracking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Integrating Kargo into Existing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Prerequisites: K8s, ArgoCD, GitOps repo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Start small: Single app, dev→staging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Expand gradually: Add stages, apps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No disruption to existing ArgoCD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  <a:latin typeface="Arial"/>
              </a:defRPr>
            </a:pPr>
            <a:r>
              <a:t>• Incremental adoption possible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0972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  <a:latin typeface="Consolas"/>
              </a:defRPr>
            </a:pPr>
            <a:r>
              <a:t>Phase 1: Install + Single App</a:t>
            </a:r>
            <a:br/>
            <a:r>
              <a:t>  ↓</a:t>
            </a:r>
            <a:br/>
            <a:r>
              <a:t>Phase 2: Add Stages</a:t>
            </a:r>
            <a:br/>
            <a:r>
              <a:t>  ↓</a:t>
            </a:r>
            <a:br/>
            <a:r>
              <a:t>Phase 3: Multiple Apps</a:t>
            </a:r>
            <a:br/>
            <a:r>
              <a:t>  ↓</a:t>
            </a:r>
            <a:br/>
            <a:r>
              <a:t>Phase 4: Advanced Patterns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Kargo solves ArgoCD promotion gap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Declarative, Kubernetes-native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Freight bundles coordinate artifacts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Progressive, verifiable promotions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Resources: docs.kargo.io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097280"/>
            <a:ext cx="3657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Key Points:</a:t>
            </a:r>
            <a:br/>
            <a:r>
              <a:t>1. ArgoCD deploys, Kargo promotes</a:t>
            </a:r>
            <a:br/>
            <a:r>
              <a:t>2. Freight = immutable artifact bundles</a:t>
            </a:r>
            <a:br/>
            <a:r>
              <a:t>3. Stages = promotion targets</a:t>
            </a:r>
            <a:br/>
            <a:r>
              <a:t>4. Kubernetes-native integration</a:t>
            </a:r>
            <a:br/>
            <a:r>
              <a:t>5. Production-ready from Argo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Resources:</a:t>
            </a:r>
            <a:br/>
            <a:r>
              <a:t>• Documentation: docs.kargo.io</a:t>
            </a:r>
            <a:br/>
            <a:r>
              <a:t>• GitHub: github.com/akuity/kargo</a:t>
            </a:r>
            <a:br/>
            <a:r>
              <a:t>• Community: Discord, CNCF Slack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A1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Example: Multi-Repository Warehouse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57575"/>
                </a:solidFill>
              </a:defRPr>
            </a:pPr>
            <a:r>
              <a:t>Complete Warehouse with image, Git, and Helm subscriptions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Consolas"/>
              </a:defRPr>
            </a:pPr>
            <a:r>
              <a:t>apiVersion: kargo.akuity.io/v1alpha1</a:t>
            </a:r>
            <a:br/>
            <a:r>
              <a:t>kind: Warehouse</a:t>
            </a:r>
            <a:br/>
            <a:r>
              <a:t>metadata:</a:t>
            </a:r>
            <a:br/>
            <a:r>
              <a:t>  name: my-warehouse</a:t>
            </a:r>
            <a:br/>
            <a:r>
              <a:t>  namespace: my-project</a:t>
            </a:r>
            <a:br/>
            <a:r>
              <a:t>spec:</a:t>
            </a:r>
            <a:br/>
            <a:r>
              <a:t>  # Automatic Freight creation with criteria</a:t>
            </a:r>
            <a:br/>
            <a:r>
              <a:t>  freightCreationPolicy: Automatic</a:t>
            </a:r>
            <a:br/>
            <a:r>
              <a:t>  freightCreationCriteria:</a:t>
            </a:r>
            <a:br/>
            <a:r>
              <a:t>    expression: |</a:t>
            </a:r>
            <a:br/>
            <a:r>
              <a:t>      imageFrom('myapp/frontend').Tag == imageFrom('myapp/backend').Tag</a:t>
            </a:r>
            <a:br/>
            <a:r>
              <a:t>  </a:t>
            </a:r>
            <a:br/>
            <a:r>
              <a:t>  subscriptions:</a:t>
            </a:r>
            <a:br/>
            <a:r>
              <a:t>    # Container image subscription</a:t>
            </a:r>
            <a:br/>
            <a:r>
              <a:t>    - image:</a:t>
            </a:r>
            <a:br/>
            <a:r>
              <a:t>        repoURL: myregistry.io/myapp/frontend</a:t>
            </a:r>
            <a:br/>
            <a:r>
              <a:t>        semverConstraint: ^2.0.0</a:t>
            </a:r>
            <a:br/>
            <a:r>
              <a:t>        discoveryLimit: 10</a:t>
            </a:r>
            <a:br/>
            <a:r>
              <a:t>        </a:t>
            </a:r>
            <a:br/>
            <a:r>
              <a:t>    - image:</a:t>
            </a:r>
            <a:br/>
            <a:r>
              <a:t>        repoURL: myregistry.io/myapp/backend</a:t>
            </a:r>
            <a:br/>
            <a:r>
              <a:t>        semverConstraint: ^2.0.0</a:t>
            </a:r>
            <a:br/>
            <a:r>
              <a:t>        discoveryLimit: 10</a:t>
            </a:r>
            <a:br/>
            <a:r>
              <a:t>    </a:t>
            </a:r>
            <a:br/>
            <a:r>
              <a:t>    # Git repository subscription</a:t>
            </a:r>
            <a:br/>
            <a:r>
              <a:t>    - git:</a:t>
            </a:r>
            <a:br/>
            <a:r>
              <a:t>        repoURL: https://github.com/myorg/config.git</a:t>
            </a:r>
            <a:br/>
            <a:r>
              <a:t>        commitSelectionStrategy: NewestFromBranch</a:t>
            </a:r>
            <a:br/>
            <a:r>
              <a:t>        branch: main</a:t>
            </a:r>
            <a:br/>
            <a:r>
              <a:t>        includePaths:</a:t>
            </a:r>
            <a:br/>
            <a:r>
              <a:t>          - config/</a:t>
            </a:r>
            <a:br/>
            <a:r>
              <a:t>        excludePaths:</a:t>
            </a:r>
            <a:br/>
            <a:r>
              <a:t>          - config/README.md</a:t>
            </a:r>
            <a:br/>
            <a:r>
              <a:t>    </a:t>
            </a:r>
            <a:br/>
            <a:r>
              <a:t>    # Helm chart subscription</a:t>
            </a:r>
            <a:br/>
            <a:r>
              <a:t>    - chart:</a:t>
            </a:r>
            <a:br/>
            <a:r>
              <a:t>        repoURL: https://charts.example.com</a:t>
            </a:r>
            <a:br/>
            <a:r>
              <a:t>        name: myapp</a:t>
            </a:r>
            <a:br/>
            <a:r>
              <a:t>        semverConstraint: ^1.0.0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A2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Example: Production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57575"/>
                </a:solidFill>
              </a:defRPr>
            </a:pPr>
            <a:r>
              <a:t>Complete Stage with promotion template and manual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Consolas"/>
              </a:defRPr>
            </a:pPr>
            <a:r>
              <a:t>apiVersion: kargo.akuity.io/v1alpha1</a:t>
            </a:r>
            <a:br/>
            <a:r>
              <a:t>kind: Stage</a:t>
            </a:r>
            <a:br/>
            <a:r>
              <a:t>metadata:</a:t>
            </a:r>
            <a:br/>
            <a:r>
              <a:t>  name: production</a:t>
            </a:r>
            <a:br/>
            <a:r>
              <a:t>  namespace: my-project</a:t>
            </a:r>
            <a:br/>
            <a:r>
              <a:t>spec:</a:t>
            </a:r>
            <a:br/>
            <a:r>
              <a:t>  # Request Freight from upstream staging Stage</a:t>
            </a:r>
            <a:br/>
            <a:r>
              <a:t>  requestedFreight:</a:t>
            </a:r>
            <a:br/>
            <a:r>
              <a:t>    - origin:</a:t>
            </a:r>
            <a:br/>
            <a:r>
              <a:t>        kind: Warehouse</a:t>
            </a:r>
            <a:br/>
            <a:r>
              <a:t>        name: my-warehouse</a:t>
            </a:r>
            <a:br/>
            <a:r>
              <a:t>      sources:</a:t>
            </a:r>
            <a:br/>
            <a:r>
              <a:t>        stages:</a:t>
            </a:r>
            <a:br/>
            <a:r>
              <a:t>          - staging</a:t>
            </a:r>
            <a:br/>
            <a:r>
              <a:t>  </a:t>
            </a:r>
            <a:br/>
            <a:r>
              <a:t>  # Promotion template (manual trigger only)</a:t>
            </a:r>
            <a:br/>
            <a:r>
              <a:t>  promotionTemplate:</a:t>
            </a:r>
            <a:br/>
            <a:r>
              <a:t>    spec:</a:t>
            </a:r>
            <a:br/>
            <a:r>
              <a:t>      vars:</a:t>
            </a:r>
            <a:br/>
            <a:r>
              <a:t>        - name: gitopsRepo</a:t>
            </a:r>
            <a:br/>
            <a:r>
              <a:t>          value: https://github.com/myorg/gitops.git</a:t>
            </a:r>
            <a:br/>
            <a:r>
              <a:t>      </a:t>
            </a:r>
            <a:br/>
            <a:r>
              <a:t>      steps:</a:t>
            </a:r>
            <a:br/>
            <a:r>
              <a:t>        - uses: git-clone</a:t>
            </a:r>
            <a:br/>
            <a:r>
              <a:t>          config:</a:t>
            </a:r>
            <a:br/>
            <a:r>
              <a:t>            repoURL: ${{ vars.gitopsRepo }}</a:t>
            </a:r>
            <a:br/>
            <a:r>
              <a:t>            checkout:</a:t>
            </a:r>
            <a:br/>
            <a:r>
              <a:t>              - branch: stage/production</a:t>
            </a:r>
            <a:br/>
            <a:r>
              <a:t>                create: true</a:t>
            </a:r>
            <a:br/>
            <a:r>
              <a:t>                path: ./out</a:t>
            </a:r>
            <a:br/>
            <a:r>
              <a:t>        </a:t>
            </a:r>
            <a:br/>
            <a:r>
              <a:t>        - uses: kustomize-set-image</a:t>
            </a:r>
            <a:br/>
            <a:r>
              <a:t>          config:</a:t>
            </a:r>
            <a:br/>
            <a:r>
              <a:t>            path: ./out</a:t>
            </a:r>
            <a:br/>
            <a:r>
              <a:t>            images:</a:t>
            </a:r>
            <a:br/>
            <a:r>
              <a:t>              - image: myapp/frontend</a:t>
            </a:r>
            <a:br/>
            <a:r>
              <a:t>                tag: ${{ imageFrom('myapp/frontend').Tag }}</a:t>
            </a:r>
            <a:br/>
            <a:r>
              <a:t>        </a:t>
            </a:r>
            <a:br/>
            <a:r>
              <a:t>        - uses: git-commit</a:t>
            </a:r>
            <a:br/>
            <a:r>
              <a:t>          as: commit</a:t>
            </a:r>
            <a:br/>
            <a:r>
              <a:t>          config:</a:t>
            </a:r>
            <a:br/>
            <a:r>
              <a:t>            path: ./out</a:t>
            </a:r>
            <a:br/>
            <a:r>
              <a:t>            message: "Production release"</a:t>
            </a:r>
            <a:br/>
            <a:r>
              <a:t>        </a:t>
            </a:r>
            <a:br/>
            <a:r>
              <a:t>        - uses: git-push</a:t>
            </a:r>
            <a:br/>
            <a:r>
              <a:t>          config:</a:t>
            </a:r>
            <a:br/>
            <a:r>
              <a:t>            path: ./out</a:t>
            </a:r>
            <a:br/>
            <a:r>
              <a:t>        </a:t>
            </a:r>
            <a:br/>
            <a:r>
              <a:t>        - uses: argocd-update</a:t>
            </a:r>
            <a:br/>
            <a:r>
              <a:t>          config:</a:t>
            </a:r>
            <a:br/>
            <a:r>
              <a:t>            apps:</a:t>
            </a:r>
            <a:br/>
            <a:r>
              <a:t>              - name: myapp-production</a:t>
            </a:r>
            <a:br/>
            <a:r>
              <a:t>                namespace: argocd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A3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Example: ArgoCD Application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57575"/>
                </a:solidFill>
              </a:defRPr>
            </a:pPr>
            <a:r>
              <a:t>Application annotated to allow Kargo Stage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Consolas"/>
              </a:defRPr>
            </a:pPr>
            <a:r>
              <a:t>apiVersion: argoproj.io/v1alpha1</a:t>
            </a:r>
            <a:br/>
            <a:r>
              <a:t>kind: Application</a:t>
            </a:r>
            <a:br/>
            <a:r>
              <a:t>metadata:</a:t>
            </a:r>
            <a:br/>
            <a:r>
              <a:t>  name: myapp-production</a:t>
            </a:r>
            <a:br/>
            <a:r>
              <a:t>  namespace: argocd</a:t>
            </a:r>
            <a:br/>
            <a:r>
              <a:t>  annotations:</a:t>
            </a:r>
            <a:br/>
            <a:r>
              <a:t>    # Authorize Kargo Stage to manage this Application</a:t>
            </a:r>
            <a:br/>
            <a:r>
              <a:t>    kargo.akuity.io/authorized-stage: "my-project:production"</a:t>
            </a:r>
            <a:br/>
            <a:r>
              <a:t>spec:</a:t>
            </a:r>
            <a:br/>
            <a:r>
              <a:t>  project: default</a:t>
            </a:r>
            <a:br/>
            <a:r>
              <a:t>  </a:t>
            </a:r>
            <a:br/>
            <a:r>
              <a:t>  source:</a:t>
            </a:r>
            <a:br/>
            <a:r>
              <a:t>    repoURL: https://github.com/myorg/gitops.git</a:t>
            </a:r>
            <a:br/>
            <a:r>
              <a:t>    targetRevision: stage/production</a:t>
            </a:r>
            <a:br/>
            <a:r>
              <a:t>    path: .</a:t>
            </a:r>
            <a:br/>
            <a:r>
              <a:t>  </a:t>
            </a:r>
            <a:br/>
            <a:r>
              <a:t>  destination:</a:t>
            </a:r>
            <a:br/>
            <a:r>
              <a:t>    server: https://kubernetes.default.svc</a:t>
            </a:r>
            <a:br/>
            <a:r>
              <a:t>    namespace: myapp-production</a:t>
            </a:r>
            <a:br/>
            <a:r>
              <a:t>  </a:t>
            </a:r>
            <a:br/>
            <a:r>
              <a:t>  syncPolicy:</a:t>
            </a:r>
            <a:br/>
            <a:r>
              <a:t>    automated:</a:t>
            </a:r>
            <a:br/>
            <a:r>
              <a:t>      prune: true</a:t>
            </a:r>
            <a:br/>
            <a:r>
              <a:t>      selfHeal: true</a:t>
            </a:r>
            <a:br/>
            <a:r>
              <a:t>    syncOptions:</a:t>
            </a:r>
            <a:br/>
            <a:r>
              <a:t>      - CreateNamespace=true</a:t>
            </a:r>
            <a:br/>
            <a:r>
              <a:t>  </a:t>
            </a:r>
            <a:br/>
            <a:r>
              <a:t>  # Optional: ignore differences</a:t>
            </a:r>
            <a:br/>
            <a:r>
              <a:t>  ignoreDifferences:</a:t>
            </a:r>
            <a:br/>
            <a:r>
              <a:t>    - group: apps</a:t>
            </a:r>
            <a:br/>
            <a:r>
              <a:t>      kind: Deployment</a:t>
            </a:r>
            <a:br/>
            <a:r>
              <a:t>      jsonPointers:</a:t>
            </a:r>
            <a:br/>
            <a:r>
              <a:t>        - /spec/replicas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A4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Example: Freight Creation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57575"/>
                </a:solidFill>
              </a:defRPr>
            </a:pPr>
            <a:r>
              <a:t>Expression-based criteria to prevent incompatible combinations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Consolas"/>
              </a:defRPr>
            </a:pPr>
            <a:r>
              <a:t># Tag matching - ensure versions match</a:t>
            </a:r>
            <a:br/>
            <a:r>
              <a:t>freightCreationCriteria:</a:t>
            </a:r>
            <a:br/>
            <a:r>
              <a:t>  expression: |</a:t>
            </a:r>
            <a:br/>
            <a:r>
              <a:t>    imageFrom('frontend').Tag == imageFrom('backend').Tag</a:t>
            </a:r>
            <a:br/>
            <a:br/>
            <a:r>
              <a:t># Version constraints - only create for stable releases</a:t>
            </a:r>
            <a:br/>
            <a:r>
              <a:t>freightCreationCriteria:</a:t>
            </a:r>
            <a:br/>
            <a:r>
              <a:t>  expression: |</a:t>
            </a:r>
            <a:br/>
            <a:r>
              <a:t>    !(imageFrom('myapp').Tag contains 'alpha') &amp;&amp;</a:t>
            </a:r>
            <a:br/>
            <a:r>
              <a:t>    !(imageFrom('myapp').Tag contains 'beta')</a:t>
            </a:r>
            <a:br/>
            <a:br/>
            <a:r>
              <a:t># Date-based filtering - only recent commits</a:t>
            </a:r>
            <a:br/>
            <a:r>
              <a:t>freightCreationCriteria:</a:t>
            </a:r>
            <a:br/>
            <a:r>
              <a:t>  expression: |</a:t>
            </a:r>
            <a:br/>
            <a:r>
              <a:t>    commitFrom('github.com/myorg/repo').CommitterDate</a:t>
            </a:r>
            <a:br/>
            <a:r>
              <a:t>      .After(date('2025-01-01'))</a:t>
            </a:r>
            <a:br/>
            <a:br/>
            <a:r>
              <a:t># Combined criteria - versions match AND stable</a:t>
            </a:r>
            <a:br/>
            <a:r>
              <a:t>freightCreationCriteria:</a:t>
            </a:r>
            <a:br/>
            <a:r>
              <a:t>  expression: |</a:t>
            </a:r>
            <a:br/>
            <a:r>
              <a:t>    imageFrom('frontend').Tag == imageFrom('backend').Tag &amp;&amp;</a:t>
            </a:r>
            <a:br/>
            <a:r>
              <a:t>    imageFrom('backend').Tag == chartFrom('myapp').Version &amp;&amp;</a:t>
            </a:r>
            <a:br/>
            <a:r>
              <a:t>    !(imageFrom('frontend').Tag contains 'rc')</a:t>
            </a:r>
            <a:br/>
            <a:br/>
            <a:r>
              <a:t># Specific version pattern - only patch updates</a:t>
            </a:r>
            <a:br/>
            <a:r>
              <a:t>freightCreationCriteria:</a:t>
            </a:r>
            <a:br/>
            <a:r>
              <a:t>  expression: |</a:t>
            </a:r>
            <a:br/>
            <a:r>
              <a:t>    imageFrom('myapp').Tag matches '^v2\.1\.\d+$'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A5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Example: Complete Promotion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57575"/>
                </a:solidFill>
              </a:defRPr>
            </a:pPr>
            <a:r>
              <a:t>Full promotion template with all common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Consolas"/>
              </a:defRPr>
            </a:pPr>
            <a:r>
              <a:t>promotionTemplate:</a:t>
            </a:r>
            <a:br/>
            <a:r>
              <a:t>  spec:</a:t>
            </a:r>
            <a:br/>
            <a:r>
              <a:t>    vars:</a:t>
            </a:r>
            <a:br/>
            <a:r>
              <a:t>      - name: gitopsRepo</a:t>
            </a:r>
            <a:br/>
            <a:r>
              <a:t>        value: https://github.com/myorg/gitops.git</a:t>
            </a:r>
            <a:br/>
            <a:r>
              <a:t>    </a:t>
            </a:r>
            <a:br/>
            <a:r>
              <a:t>    steps:</a:t>
            </a:r>
            <a:br/>
            <a:r>
              <a:t>      # Clone source and output branches</a:t>
            </a:r>
            <a:br/>
            <a:r>
              <a:t>      - uses: git-clone</a:t>
            </a:r>
            <a:br/>
            <a:r>
              <a:t>        config:</a:t>
            </a:r>
            <a:br/>
            <a:r>
              <a:t>          repoURL: ${{ vars.gitopsRepo }}</a:t>
            </a:r>
            <a:br/>
            <a:r>
              <a:t>          checkout:</a:t>
            </a:r>
            <a:br/>
            <a:r>
              <a:t>            - branch: main</a:t>
            </a:r>
            <a:br/>
            <a:r>
              <a:t>              path: ./src</a:t>
            </a:r>
            <a:br/>
            <a:r>
              <a:t>            - branch: stage/dev</a:t>
            </a:r>
            <a:br/>
            <a:r>
              <a:t>              create: true</a:t>
            </a:r>
            <a:br/>
            <a:r>
              <a:t>              path: ./out</a:t>
            </a:r>
            <a:br/>
            <a:r>
              <a:t>      </a:t>
            </a:r>
            <a:br/>
            <a:r>
              <a:t>      # Clear output directory</a:t>
            </a:r>
            <a:br/>
            <a:r>
              <a:t>      - uses: git-clear</a:t>
            </a:r>
            <a:br/>
            <a:r>
              <a:t>        config:</a:t>
            </a:r>
            <a:br/>
            <a:r>
              <a:t>          path: ./out</a:t>
            </a:r>
            <a:br/>
            <a:r>
              <a:t>      </a:t>
            </a:r>
            <a:br/>
            <a:r>
              <a:t>      # Update image tags</a:t>
            </a:r>
            <a:br/>
            <a:r>
              <a:t>      - uses: kustomize-set-image</a:t>
            </a:r>
            <a:br/>
            <a:r>
              <a:t>        as: update-image</a:t>
            </a:r>
            <a:br/>
            <a:r>
              <a:t>        config:</a:t>
            </a:r>
            <a:br/>
            <a:r>
              <a:t>          path: ./src/overlays/dev</a:t>
            </a:r>
            <a:br/>
            <a:r>
              <a:t>          images:</a:t>
            </a:r>
            <a:br/>
            <a:r>
              <a:t>            - image: myapp/frontend</a:t>
            </a:r>
            <a:br/>
            <a:r>
              <a:t>              tag: ${{ imageFrom('myapp/frontend').Tag }}</a:t>
            </a:r>
            <a:br/>
            <a:r>
              <a:t>            - image: myapp/backend</a:t>
            </a:r>
            <a:br/>
            <a:r>
              <a:t>              tag: ${{ imageFrom('myapp/backend').Tag }}</a:t>
            </a:r>
            <a:br/>
            <a:r>
              <a:t>      </a:t>
            </a:r>
            <a:br/>
            <a:r>
              <a:t>      # Build manifests</a:t>
            </a:r>
            <a:br/>
            <a:r>
              <a:t>      - uses: kustomize-build</a:t>
            </a:r>
            <a:br/>
            <a:r>
              <a:t>        config:</a:t>
            </a:r>
            <a:br/>
            <a:r>
              <a:t>          path: ./src/overlays/dev</a:t>
            </a:r>
            <a:br/>
            <a:r>
              <a:t>          outPath: ./out</a:t>
            </a:r>
            <a:br/>
            <a:r>
              <a:t>      </a:t>
            </a:r>
            <a:br/>
            <a:r>
              <a:t>      # Commit changes</a:t>
            </a:r>
            <a:br/>
            <a:r>
              <a:t>      - uses: git-commit</a:t>
            </a:r>
            <a:br/>
            <a:r>
              <a:t>        as: commit</a:t>
            </a:r>
            <a:br/>
            <a:r>
              <a:t>        config:</a:t>
            </a:r>
            <a:br/>
            <a:r>
              <a:t>          path: ./out</a:t>
            </a:r>
            <a:br/>
            <a:r>
              <a:t>          messageFromSteps:</a:t>
            </a:r>
            <a:br/>
            <a:r>
              <a:t>            - update-image</a:t>
            </a:r>
            <a:br/>
            <a:r>
              <a:t>      </a:t>
            </a:r>
            <a:br/>
            <a:r>
              <a:t>      # Push to remote</a:t>
            </a:r>
            <a:br/>
            <a:r>
              <a:t>      - uses: git-push</a:t>
            </a:r>
            <a:br/>
            <a:r>
              <a:t>        config:</a:t>
            </a:r>
            <a:br/>
            <a:r>
              <a:t>          path: ./out</a:t>
            </a:r>
            <a:br/>
            <a:r>
              <a:t>      </a:t>
            </a:r>
            <a:br/>
            <a:r>
              <a:t>      # Update ArgoCD Application</a:t>
            </a:r>
            <a:br/>
            <a:r>
              <a:t>      - uses: argocd-update</a:t>
            </a:r>
            <a:br/>
            <a:r>
              <a:t>        config:</a:t>
            </a:r>
            <a:br/>
            <a:r>
              <a:t>          apps:</a:t>
            </a:r>
            <a:br/>
            <a:r>
              <a:t>            - name: myapp-dev</a:t>
            </a:r>
            <a:br/>
            <a:r>
              <a:t>              namespace: argocd</a:t>
            </a:r>
            <a:br/>
            <a:r>
              <a:t>              sources:</a:t>
            </a:r>
            <a:br/>
            <a:r>
              <a:t>                - repoURL: ${{ vars.gitopsRepo }}</a:t>
            </a:r>
            <a:br/>
            <a:r>
              <a:t>                  desiredRevision: ${{ outputs.commit.commit }}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A6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Example: Git Tag Creation for Releases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57575"/>
                </a:solidFill>
              </a:defRPr>
            </a:pPr>
            <a:r>
              <a:t>Bash step for creating annotated tags and release manifests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Consolas"/>
              </a:defRPr>
            </a:pPr>
            <a:r>
              <a:t># Git tag creation step in promotion template</a:t>
            </a:r>
            <a:br/>
            <a:r>
              <a:t>steps:</a:t>
            </a:r>
            <a:br/>
            <a:r>
              <a:t>  # ... standard promotion steps ...</a:t>
            </a:r>
            <a:br/>
            <a:r>
              <a:t>  </a:t>
            </a:r>
            <a:br/>
            <a:r>
              <a:t>  # Create annotated Git tag</a:t>
            </a:r>
            <a:br/>
            <a:r>
              <a:t>  - uses: bash</a:t>
            </a:r>
            <a:br/>
            <a:r>
              <a:t>    config:</a:t>
            </a:r>
            <a:br/>
            <a:r>
              <a:t>      script: |</a:t>
            </a:r>
            <a:br/>
            <a:r>
              <a:t>        #!/bin/bash</a:t>
            </a:r>
            <a:br/>
            <a:r>
              <a:t>        cd ./out</a:t>
            </a:r>
            <a:br/>
            <a:r>
              <a:t>        </a:t>
            </a:r>
            <a:br/>
            <a:r>
              <a:t>        # Generate release version</a:t>
            </a:r>
            <a:br/>
            <a:r>
              <a:t>        RELEASE_TAG="release-$(date +%Y.%m.%d-%H%M%S)"</a:t>
            </a:r>
            <a:br/>
            <a:r>
              <a:t>        </a:t>
            </a:r>
            <a:br/>
            <a:r>
              <a:t>        # Create annotated tag with component manifest</a:t>
            </a:r>
            <a:br/>
            <a:r>
              <a:t>        git tag -a "$RELEASE_TAG" -m "Production Release</a:t>
            </a:r>
            <a:br/>
            <a:r>
              <a:t>        </a:t>
            </a:r>
            <a:br/>
            <a:r>
              <a:t>        Kargo Freight: ${{ ctx.freight.name }}</a:t>
            </a:r>
            <a:br/>
            <a:r>
              <a:t>        Freight Alias: ${{ ctx.freight.alias }}</a:t>
            </a:r>
            <a:br/>
            <a:r>
              <a:t>        </a:t>
            </a:r>
            <a:br/>
            <a:r>
              <a:t>        Components:</a:t>
            </a:r>
            <a:br/>
            <a:r>
              <a:t>        - Frontend: ${{ imageFrom('myapp/frontend').Tag }}</a:t>
            </a:r>
            <a:br/>
            <a:r>
              <a:t>        - Backend: ${{ imageFrom('myapp/backend').Tag }}</a:t>
            </a:r>
            <a:br/>
            <a:r>
              <a:t>        - Chart: ${{ chartFrom('myapp').Version }}</a:t>
            </a:r>
            <a:br/>
            <a:r>
              <a:t>        </a:t>
            </a:r>
            <a:br/>
            <a:r>
              <a:t>        Promoted: $(date -u +%Y-%m-%dT%H:%M:%SZ)</a:t>
            </a:r>
            <a:br/>
            <a:r>
              <a:t>        Promoted By: ${{ ctx.promotion.createdBy }}"</a:t>
            </a:r>
            <a:br/>
            <a:r>
              <a:t>        </a:t>
            </a:r>
            <a:br/>
            <a:r>
              <a:t>        # Push tag</a:t>
            </a:r>
            <a:br/>
            <a:r>
              <a:t>        git push origin "$RELEASE_TAG"</a:t>
            </a:r>
            <a:br/>
            <a:r>
              <a:t>        </a:t>
            </a:r>
            <a:br/>
            <a:r>
              <a:t>        # Optional: Create release manifest</a:t>
            </a:r>
            <a:br/>
            <a:r>
              <a:t>        cat &gt; release-manifest.json &lt;&lt;EOF</a:t>
            </a:r>
            <a:br/>
            <a:r>
              <a:t>        {</a:t>
            </a:r>
            <a:br/>
            <a:r>
              <a:t>          "version": "$RELEASE_TAG",</a:t>
            </a:r>
            <a:br/>
            <a:r>
              <a:t>          "freight": "${{ ctx.freight.name }}",</a:t>
            </a:r>
            <a:br/>
            <a:r>
              <a:t>          "components": {</a:t>
            </a:r>
            <a:br/>
            <a:r>
              <a:t>            "frontend": "${{ imageFrom('myapp/frontend').Tag }}",</a:t>
            </a:r>
            <a:br/>
            <a:r>
              <a:t>            "backend": "${{ imageFrom('myapp/backend').Tag }}"</a:t>
            </a:r>
            <a:br/>
            <a:r>
              <a:t>          }</a:t>
            </a:r>
            <a:br/>
            <a:r>
              <a:t>        }</a:t>
            </a:r>
            <a:br/>
            <a:r>
              <a:t>        EOF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A7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Example: Multiple Warehouses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57575"/>
                </a:solidFill>
              </a:defRPr>
            </a:pPr>
            <a:r>
              <a:t>Independent pipelines for different artifact cadences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Consolas"/>
              </a:defRPr>
            </a:pPr>
            <a:r>
              <a:t># Warehouse 1: Application images (fast-moving)</a:t>
            </a:r>
            <a:br/>
            <a:r>
              <a:t>apiVersion: kargo.akuity.io/v1alpha1</a:t>
            </a:r>
            <a:br/>
            <a:r>
              <a:t>kind: Warehouse</a:t>
            </a:r>
            <a:br/>
            <a:r>
              <a:t>metadata:</a:t>
            </a:r>
            <a:br/>
            <a:r>
              <a:t>  name: app-images</a:t>
            </a:r>
            <a:br/>
            <a:r>
              <a:t>  namespace: my-project</a:t>
            </a:r>
            <a:br/>
            <a:r>
              <a:t>spec:</a:t>
            </a:r>
            <a:br/>
            <a:r>
              <a:t>  subscriptions:</a:t>
            </a:r>
            <a:br/>
            <a:r>
              <a:t>    - image:</a:t>
            </a:r>
            <a:br/>
            <a:r>
              <a:t>        repoURL: myregistry.io/myapp/frontend</a:t>
            </a:r>
            <a:br/>
            <a:r>
              <a:t>    - image:</a:t>
            </a:r>
            <a:br/>
            <a:r>
              <a:t>        repoURL: myregistry.io/myapp/backend</a:t>
            </a:r>
            <a:br/>
            <a:br/>
            <a:r>
              <a:t>---</a:t>
            </a:r>
            <a:br/>
            <a:r>
              <a:t># Warehouse 2: Infrastructure config (slow-moving)</a:t>
            </a:r>
            <a:br/>
            <a:r>
              <a:t>apiVersion: kargo.akuity.io/v1alpha1</a:t>
            </a:r>
            <a:br/>
            <a:r>
              <a:t>kind: Warehouse</a:t>
            </a:r>
            <a:br/>
            <a:r>
              <a:t>metadata:</a:t>
            </a:r>
            <a:br/>
            <a:r>
              <a:t>  name: infra-config</a:t>
            </a:r>
            <a:br/>
            <a:r>
              <a:t>  namespace: my-project</a:t>
            </a:r>
            <a:br/>
            <a:r>
              <a:t>spec:</a:t>
            </a:r>
            <a:br/>
            <a:r>
              <a:t>  subscriptions:</a:t>
            </a:r>
            <a:br/>
            <a:r>
              <a:t>    - git:</a:t>
            </a:r>
            <a:br/>
            <a:r>
              <a:t>        repoURL: https://github.com/myorg/infra-config.git</a:t>
            </a:r>
            <a:br/>
            <a:r>
              <a:t>        branch: main</a:t>
            </a:r>
            <a:br/>
            <a:br/>
            <a:r>
              <a:t>---</a:t>
            </a:r>
            <a:br/>
            <a:r>
              <a:t># Stage accepts Freight from BOTH Warehouses</a:t>
            </a:r>
            <a:br/>
            <a:r>
              <a:t>apiVersion: kargo.akuity.io/v1alpha1</a:t>
            </a:r>
            <a:br/>
            <a:r>
              <a:t>kind: Stage</a:t>
            </a:r>
            <a:br/>
            <a:r>
              <a:t>metadata:</a:t>
            </a:r>
            <a:br/>
            <a:r>
              <a:t>  name: staging</a:t>
            </a:r>
            <a:br/>
            <a:r>
              <a:t>  namespace: my-project</a:t>
            </a:r>
            <a:br/>
            <a:r>
              <a:t>spec:</a:t>
            </a:r>
            <a:br/>
            <a:r>
              <a:t>  requestedFreight:</a:t>
            </a:r>
            <a:br/>
            <a:r>
              <a:t>    - origin:</a:t>
            </a:r>
            <a:br/>
            <a:r>
              <a:t>        kind: Warehouse</a:t>
            </a:r>
            <a:br/>
            <a:r>
              <a:t>        name: app-images</a:t>
            </a:r>
            <a:br/>
            <a:r>
              <a:t>      sources:</a:t>
            </a:r>
            <a:br/>
            <a:r>
              <a:t>        direct: true</a:t>
            </a:r>
            <a:br/>
            <a:r>
              <a:t>    - origin:</a:t>
            </a:r>
            <a:br/>
            <a:r>
              <a:t>        kind: Warehouse</a:t>
            </a:r>
            <a:br/>
            <a:r>
              <a:t>        name: infra-config</a:t>
            </a:r>
            <a:br/>
            <a:r>
              <a:t>      sources:</a:t>
            </a:r>
            <a:br/>
            <a:r>
              <a:t>        direct: true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A8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Example: Freight Cloning for Hotfixes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57575"/>
                </a:solidFill>
              </a:defRPr>
            </a:pPr>
            <a:r>
              <a:t>Using Freight cloning to create emergency hotfix releases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Consolas"/>
              </a:defRPr>
            </a:pPr>
            <a:r>
              <a:t># Scenario: Critical bug in production backend</a:t>
            </a:r>
            <a:br/>
            <a:r>
              <a:t># Production Freight contains:</a:t>
            </a:r>
            <a:br/>
            <a:r>
              <a:t># - frontend:v2.0.0</a:t>
            </a:r>
            <a:br/>
            <a:r>
              <a:t># - backend:v2.0.0 (buggy)</a:t>
            </a:r>
            <a:br/>
            <a:r>
              <a:t># - config:v1.5.0</a:t>
            </a:r>
            <a:br/>
            <a:br/>
            <a:r>
              <a:t># Step 1: Build and push hotfix</a:t>
            </a:r>
            <a:br/>
            <a:r>
              <a:t># docker build -t myregistry.io/myapp/backend:v2.0.1 .</a:t>
            </a:r>
            <a:br/>
            <a:r>
              <a:t># docker push myregistry.io/myapp/backend:v2.0.1</a:t>
            </a:r>
            <a:br/>
            <a:br/>
            <a:r>
              <a:t># Step 2: Clone production Freight via Kargo UI/CLI</a:t>
            </a:r>
            <a:br/>
            <a:r>
              <a:t># 1. Navigate to production Stage</a:t>
            </a:r>
            <a:br/>
            <a:r>
              <a:t># 2. Select current Freight</a:t>
            </a:r>
            <a:br/>
            <a:r>
              <a:t># 3. Click "Clone Freight"</a:t>
            </a:r>
            <a:br/>
            <a:r>
              <a:t># 4. Select backend artifact</a:t>
            </a:r>
            <a:br/>
            <a:r>
              <a:t># 5. Change version to v2.0.1</a:t>
            </a:r>
            <a:br/>
            <a:r>
              <a:t># 6. Click "Create Freight"</a:t>
            </a:r>
            <a:br/>
            <a:br/>
            <a:r>
              <a:t># Result: New Freight with hotfix</a:t>
            </a:r>
            <a:br/>
            <a:r>
              <a:t># - frontend:v2.0.0 (unchanged)</a:t>
            </a:r>
            <a:br/>
            <a:r>
              <a:t># - backend:v2.0.1 (hotfix)</a:t>
            </a:r>
            <a:br/>
            <a:r>
              <a:t># - config:v1.5.0 (unchanged)</a:t>
            </a:r>
            <a:br/>
            <a:br/>
            <a:r>
              <a:t># Step 3: Promote hotfix Freight to production</a:t>
            </a:r>
            <a:br/>
            <a:r>
              <a:t># Can bypass lower environments for emergency</a:t>
            </a:r>
            <a:br/>
            <a:r>
              <a:t># Or test in dev/staging first if time permits</a:t>
            </a:r>
            <a:br/>
            <a:br/>
            <a:r>
              <a:t># Freight cloning preserves all other artifacts</a:t>
            </a:r>
            <a:br/>
            <a:r>
              <a:t># Only replaces the component needing hotfix</a:t>
            </a:r>
            <a:br/>
            <a:r>
              <a:t># Maintains reproducibility and audit trail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A9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Example: Verification with Argo Rollouts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57575"/>
                </a:solidFill>
              </a:defRPr>
            </a:pPr>
            <a:r>
              <a:t>Stage verification using AnalysisTemplate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Consolas"/>
              </a:defRPr>
            </a:pPr>
            <a:r>
              <a:t># Stage with verification via AnalysisTemplate</a:t>
            </a:r>
            <a:br/>
            <a:r>
              <a:t>apiVersion: kargo.akuity.io/v1alpha1</a:t>
            </a:r>
            <a:br/>
            <a:r>
              <a:t>kind: Stage</a:t>
            </a:r>
            <a:br/>
            <a:r>
              <a:t>metadata:</a:t>
            </a:r>
            <a:br/>
            <a:r>
              <a:t>  name: staging</a:t>
            </a:r>
            <a:br/>
            <a:r>
              <a:t>  namespace: my-project</a:t>
            </a:r>
            <a:br/>
            <a:r>
              <a:t>spec:</a:t>
            </a:r>
            <a:br/>
            <a:r>
              <a:t>  requestedFreight:</a:t>
            </a:r>
            <a:br/>
            <a:r>
              <a:t>    - origin:</a:t>
            </a:r>
            <a:br/>
            <a:r>
              <a:t>        kind: Warehouse</a:t>
            </a:r>
            <a:br/>
            <a:r>
              <a:t>        name: my-warehouse</a:t>
            </a:r>
            <a:br/>
            <a:r>
              <a:t>      sources:</a:t>
            </a:r>
            <a:br/>
            <a:r>
              <a:t>        direct: true</a:t>
            </a:r>
            <a:br/>
            <a:r>
              <a:t>  </a:t>
            </a:r>
            <a:br/>
            <a:r>
              <a:t>  # Verification configuration</a:t>
            </a:r>
            <a:br/>
            <a:r>
              <a:t>  verification:</a:t>
            </a:r>
            <a:br/>
            <a:r>
              <a:t>    analysisTemplates:</a:t>
            </a:r>
            <a:br/>
            <a:r>
              <a:t>      - name: smoke-tests</a:t>
            </a:r>
            <a:br/>
            <a:r>
              <a:t>    </a:t>
            </a:r>
            <a:br/>
            <a:r>
              <a:t>    # Run analysis after promotion</a:t>
            </a:r>
            <a:br/>
            <a:r>
              <a:t>    analysisRunMetadata:</a:t>
            </a:r>
            <a:br/>
            <a:r>
              <a:t>      labels:</a:t>
            </a:r>
            <a:br/>
            <a:r>
              <a:t>        stage: staging</a:t>
            </a:r>
            <a:br/>
            <a:r>
              <a:t>  </a:t>
            </a:r>
            <a:br/>
            <a:r>
              <a:t>  promotionTemplate:</a:t>
            </a:r>
            <a:br/>
            <a:r>
              <a:t>    # ... promotion steps ...</a:t>
            </a:r>
            <a:br/>
            <a:br/>
            <a:r>
              <a:t>---</a:t>
            </a:r>
            <a:br/>
            <a:r>
              <a:t># AnalysisTemplate for verification</a:t>
            </a:r>
            <a:br/>
            <a:r>
              <a:t>apiVersion: argoproj.io/v1alpha1</a:t>
            </a:r>
            <a:br/>
            <a:r>
              <a:t>kind: AnalysisTemplate</a:t>
            </a:r>
            <a:br/>
            <a:r>
              <a:t>metadata:</a:t>
            </a:r>
            <a:br/>
            <a:r>
              <a:t>  name: smoke-tests</a:t>
            </a:r>
            <a:br/>
            <a:r>
              <a:t>  namespace: my-project</a:t>
            </a:r>
            <a:br/>
            <a:r>
              <a:t>spec:</a:t>
            </a:r>
            <a:br/>
            <a:r>
              <a:t>  metrics:</a:t>
            </a:r>
            <a:br/>
            <a:r>
              <a:t>    - name: http-check</a:t>
            </a:r>
            <a:br/>
            <a:r>
              <a:t>      interval: 30s</a:t>
            </a:r>
            <a:br/>
            <a:r>
              <a:t>      count: 5</a:t>
            </a:r>
            <a:br/>
            <a:r>
              <a:t>      successCondition: result == '200'</a:t>
            </a:r>
            <a:br/>
            <a:r>
              <a:t>      provider:</a:t>
            </a:r>
            <a:br/>
            <a:r>
              <a:t>        web:</a:t>
            </a:r>
            <a:br/>
            <a:r>
              <a:t>          url: https://myapp-staging.example.com/health</a:t>
            </a:r>
            <a:br/>
            <a:r>
              <a:t>          jsonPath: "{$.status}"</a:t>
            </a:r>
            <a:br/>
            <a:r>
              <a:t>    </a:t>
            </a:r>
            <a:br/>
            <a:r>
              <a:t>    - name: error-rate</a:t>
            </a:r>
            <a:br/>
            <a:r>
              <a:t>      interval: 1m</a:t>
            </a:r>
            <a:br/>
            <a:r>
              <a:t>      count: 3</a:t>
            </a:r>
            <a:br/>
            <a:r>
              <a:t>      successCondition: result &lt; 0.05</a:t>
            </a:r>
            <a:br/>
            <a:r>
              <a:t>      provider:</a:t>
            </a:r>
            <a:br/>
            <a:r>
              <a:t>        prometheus:</a:t>
            </a:r>
            <a:br/>
            <a:r>
              <a:t>          address: http://prometheus:9090</a:t>
            </a:r>
            <a:br/>
            <a:r>
              <a:t>          query: |</a:t>
            </a:r>
            <a:br/>
            <a:r>
              <a:t>            sum(rate(http_requests_total{status=~"5.."}[5m])) / </a:t>
            </a:r>
            <a:br/>
            <a:r>
              <a:t>            sum(rate(http_requests_total[5m]))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A10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Troubleshooting Common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57575"/>
                </a:solidFill>
              </a:defRPr>
            </a:pPr>
            <a:r>
              <a:t>Diagnostic steps and solutions for frequent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Consolas"/>
              </a:defRPr>
            </a:pPr>
            <a:r>
              <a:t># Issue 1: Freight not being created</a:t>
            </a:r>
            <a:br/>
            <a:r>
              <a:t># Check Warehouse status</a:t>
            </a:r>
            <a:br/>
            <a:r>
              <a:t>kubectl get warehouse -n my-project my-warehouse -o yaml</a:t>
            </a:r>
            <a:br/>
            <a:r>
              <a:t># Look for errors in status.conditions</a:t>
            </a:r>
            <a:br/>
            <a:br/>
            <a:r>
              <a:t># Solution: Add credentials for private registries</a:t>
            </a:r>
            <a:br/>
            <a:r>
              <a:t>apiVersion: v1</a:t>
            </a:r>
            <a:br/>
            <a:r>
              <a:t>kind: Secret</a:t>
            </a:r>
            <a:br/>
            <a:r>
              <a:t>metadata:</a:t>
            </a:r>
            <a:br/>
            <a:r>
              <a:t>  name: registry-creds</a:t>
            </a:r>
            <a:br/>
            <a:r>
              <a:t>  namespace: my-project</a:t>
            </a:r>
            <a:br/>
            <a:r>
              <a:t>  labels:</a:t>
            </a:r>
            <a:br/>
            <a:r>
              <a:t>    kargo.akuity.io/cred-type: image</a:t>
            </a:r>
            <a:br/>
            <a:r>
              <a:t>stringData:</a:t>
            </a:r>
            <a:br/>
            <a:r>
              <a:t>  repoURL: ghcr.io</a:t>
            </a:r>
            <a:br/>
            <a:r>
              <a:t>  username: myuser</a:t>
            </a:r>
            <a:br/>
            <a:r>
              <a:t>  password: ghp_xxxxxxxxxxxxx</a:t>
            </a:r>
            <a:br/>
            <a:br/>
            <a:r>
              <a:t>---</a:t>
            </a:r>
            <a:br/>
            <a:r>
              <a:t># Issue 2: Promotion failing - git push errors</a:t>
            </a:r>
            <a:br/>
            <a:r>
              <a:t># Check for Git credentials</a:t>
            </a:r>
            <a:br/>
            <a:r>
              <a:t>apiVersion: v1</a:t>
            </a:r>
            <a:br/>
            <a:r>
              <a:t>kind: Secret</a:t>
            </a:r>
            <a:br/>
            <a:r>
              <a:t>metadata:</a:t>
            </a:r>
            <a:br/>
            <a:r>
              <a:t>  name: git-creds</a:t>
            </a:r>
            <a:br/>
            <a:r>
              <a:t>  namespace: my-project</a:t>
            </a:r>
            <a:br/>
            <a:r>
              <a:t>  labels:</a:t>
            </a:r>
            <a:br/>
            <a:r>
              <a:t>    kargo.akuity.io/cred-type: git</a:t>
            </a:r>
            <a:br/>
            <a:r>
              <a:t>stringData:</a:t>
            </a:r>
            <a:br/>
            <a:r>
              <a:t>  repoURL: https://github.com/myorg/gitops.git</a:t>
            </a:r>
            <a:br/>
            <a:r>
              <a:t>  username: myuser</a:t>
            </a:r>
            <a:br/>
            <a:r>
              <a:t>  password: ghp_xxxxxxxxxxxxx</a:t>
            </a:r>
            <a:br/>
            <a:br/>
            <a:r>
              <a:t>---</a:t>
            </a:r>
            <a:br/>
            <a:r>
              <a:t># Issue 3: Application not syncing after promotion</a:t>
            </a:r>
            <a:br/>
            <a:r>
              <a:t># Verify authorization annotation</a:t>
            </a:r>
            <a:br/>
            <a:r>
              <a:t>kubectl get application -n argocd myapp-dev -o yaml</a:t>
            </a:r>
            <a:br/>
            <a:r>
              <a:t># Should have: kargo.akuity.io/authorized-stage: "project:stage"</a:t>
            </a:r>
            <a:br/>
            <a:br/>
            <a:r>
              <a:t>---</a:t>
            </a:r>
            <a:br/>
            <a:r>
              <a:t># Issue 4: Check Promotion logs for detailed errors</a:t>
            </a:r>
            <a:br/>
            <a:r>
              <a:t>kubectl get promotion -n my-project &lt;promotion-name&gt; -o yaml</a:t>
            </a:r>
            <a:br/>
            <a:r>
              <a:t># Review status.stepResults for failures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A11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Expression Language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57575"/>
                </a:solidFill>
              </a:defRPr>
            </a:pPr>
            <a:r>
              <a:t>Complete guide to Kargo expression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Consolas"/>
              </a:defRPr>
            </a:pPr>
            <a:r>
              <a:t># Context Variables</a:t>
            </a:r>
            <a:br/>
            <a:r>
              <a:t>${{ ctx.stage }}                    # Current Stage name</a:t>
            </a:r>
            <a:br/>
            <a:r>
              <a:t>${{ ctx.freight.name }}             # Freight SHA identifier</a:t>
            </a:r>
            <a:br/>
            <a:r>
              <a:t>${{ ctx.freight.alias }}            # Human-friendly alias</a:t>
            </a:r>
            <a:br/>
            <a:r>
              <a:t>${{ ctx.promotion.createdBy }}      # Who triggered promotion</a:t>
            </a:r>
            <a:br/>
            <a:br/>
            <a:r>
              <a:t># Artifact Functions</a:t>
            </a:r>
            <a:br/>
            <a:r>
              <a:t>${{ imageFrom('myapp/frontend').Tag }}        # Image tag</a:t>
            </a:r>
            <a:br/>
            <a:r>
              <a:t>${{ imageFrom('myapp/frontend').Digest }}     # Image digest</a:t>
            </a:r>
            <a:br/>
            <a:r>
              <a:t>${{ commitFrom('github.com/org/repo').ID }}   # Git commit SHA</a:t>
            </a:r>
            <a:br/>
            <a:r>
              <a:t>${{ commitFrom('github.com/org/repo').Message }}  # Commit message</a:t>
            </a:r>
            <a:br/>
            <a:r>
              <a:t>${{ chartFrom('my-chart').Version }}          # Helm chart version</a:t>
            </a:r>
            <a:br/>
            <a:br/>
            <a:r>
              <a:t># Artifact Functions with Warehouse Filter</a:t>
            </a:r>
            <a:br/>
            <a:r>
              <a:t>${{ imageFrom('myapp', warehouse('my-warehouse')).Tag }}</a:t>
            </a:r>
            <a:br/>
            <a:br/>
            <a:r>
              <a:t># Variable References</a:t>
            </a:r>
            <a:br/>
            <a:r>
              <a:t>${{ vars.gitopsRepo }}              # Global variable</a:t>
            </a:r>
            <a:br/>
            <a:r>
              <a:t>${{ outputs.commit.commit }}        # Step output (by alias)</a:t>
            </a:r>
            <a:br/>
            <a:r>
              <a:t>${{ outputs['step-name'].value }}   # Square bracket notation</a:t>
            </a:r>
            <a:br/>
            <a:r>
              <a:t>${{ task.outputs['step'].value }}   # Task output</a:t>
            </a:r>
            <a:br/>
            <a:br/>
            <a:r>
              <a:t># Utility Functions</a:t>
            </a:r>
            <a:br/>
            <a:r>
              <a:t>${{ timestamp() }}                           # Unix timestamp</a:t>
            </a:r>
            <a:br/>
            <a:r>
              <a:t>${{ timestamp("2006.01.02") }}              # Formatted date</a:t>
            </a:r>
            <a:br/>
            <a:r>
              <a:t>${{ timestamp("2006-01-02T15:04:05") }}     # ISO format</a:t>
            </a:r>
            <a:br/>
            <a:r>
              <a:t>${{ quote(imageFrom('app').Tag) }}          # YAML-safe quoting</a:t>
            </a:r>
            <a:br/>
            <a:br/>
            <a:r>
              <a:t># Freight Creation Criteria Examples</a:t>
            </a:r>
            <a:br/>
            <a:r>
              <a:t>imageFrom('frontend').Tag == imageFrom('backend').Tag</a:t>
            </a:r>
            <a:br/>
            <a:r>
              <a:t>imageFrom('app').Tag &gt; '2.0.0'</a:t>
            </a:r>
            <a:br/>
            <a:r>
              <a:t>!(imageFrom('app').Tag contains 'alpha')</a:t>
            </a:r>
            <a:br/>
            <a:r>
              <a:t>commitFrom('repo').CommitterDate.After(date('2025-01-01'))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A12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Complete End-to-End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57575"/>
                </a:solidFill>
              </a:defRPr>
            </a:pPr>
            <a:r>
              <a:t>Full Kargo setup for e-commerce microservices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Consolas"/>
              </a:defRPr>
            </a:pPr>
            <a:r>
              <a:t># Complete Kargo Setup for E-Commerce Application</a:t>
            </a:r>
            <a:br/>
            <a:br/>
            <a:r>
              <a:t># 1. Warehouse for microservices</a:t>
            </a:r>
            <a:br/>
            <a:r>
              <a:t>apiVersion: kargo.akuity.io/v1alpha1</a:t>
            </a:r>
            <a:br/>
            <a:r>
              <a:t>kind: Warehouse</a:t>
            </a:r>
            <a:br/>
            <a:r>
              <a:t>metadata:</a:t>
            </a:r>
            <a:br/>
            <a:r>
              <a:t>  name: ecommerce-warehouse</a:t>
            </a:r>
            <a:br/>
            <a:r>
              <a:t>  namespace: ecommerce</a:t>
            </a:r>
            <a:br/>
            <a:r>
              <a:t>spec:</a:t>
            </a:r>
            <a:br/>
            <a:r>
              <a:t>  subscriptions:</a:t>
            </a:r>
            <a:br/>
            <a:r>
              <a:t>    - image:</a:t>
            </a:r>
            <a:br/>
            <a:r>
              <a:t>        repoURL: myregistry.io/ecommerce/frontend</a:t>
            </a:r>
            <a:br/>
            <a:r>
              <a:t>    - image:</a:t>
            </a:r>
            <a:br/>
            <a:r>
              <a:t>        repoURL: myregistry.io/ecommerce/api</a:t>
            </a:r>
            <a:br/>
            <a:r>
              <a:t>    - image:</a:t>
            </a:r>
            <a:br/>
            <a:r>
              <a:t>        repoURL: myregistry.io/ecommerce/worker</a:t>
            </a:r>
            <a:br/>
            <a:r>
              <a:t>    - chart:</a:t>
            </a:r>
            <a:br/>
            <a:r>
              <a:t>        repoURL: https://charts.example.com</a:t>
            </a:r>
            <a:br/>
            <a:r>
              <a:t>        name: ecommerce</a:t>
            </a:r>
            <a:br/>
            <a:br/>
            <a:r>
              <a:t>---</a:t>
            </a:r>
            <a:br/>
            <a:r>
              <a:t># 2. Dev Stage (auto-promote)</a:t>
            </a:r>
            <a:br/>
            <a:r>
              <a:t>apiVersion: kargo.akuity.io/v1alpha1</a:t>
            </a:r>
            <a:br/>
            <a:r>
              <a:t>kind: Stage</a:t>
            </a:r>
            <a:br/>
            <a:r>
              <a:t>metadata:</a:t>
            </a:r>
            <a:br/>
            <a:r>
              <a:t>  name: dev</a:t>
            </a:r>
            <a:br/>
            <a:r>
              <a:t>  namespace: ecommerce</a:t>
            </a:r>
            <a:br/>
            <a:r>
              <a:t>spec:</a:t>
            </a:r>
            <a:br/>
            <a:r>
              <a:t>  requestedFreight:</a:t>
            </a:r>
            <a:br/>
            <a:r>
              <a:t>    - origin:</a:t>
            </a:r>
            <a:br/>
            <a:r>
              <a:t>        kind: Warehouse</a:t>
            </a:r>
            <a:br/>
            <a:r>
              <a:t>        name: ecommerce-warehouse</a:t>
            </a:r>
            <a:br/>
            <a:r>
              <a:t>      sources:</a:t>
            </a:r>
            <a:br/>
            <a:r>
              <a:t>        direct: true</a:t>
            </a:r>
            <a:br/>
            <a:r>
              <a:t>  promotionTemplate:</a:t>
            </a:r>
            <a:br/>
            <a:r>
              <a:t>    spec:</a:t>
            </a:r>
            <a:br/>
            <a:r>
              <a:t>      steps:</a:t>
            </a:r>
            <a:br/>
            <a:r>
              <a:t>        - uses: git-clone</a:t>
            </a:r>
            <a:br/>
            <a:r>
              <a:t>          config:</a:t>
            </a:r>
            <a:br/>
            <a:r>
              <a:t>            repoURL: https://github.com/myorg/ecommerce-gitops.git</a:t>
            </a:r>
            <a:br/>
            <a:r>
              <a:t>            checkout:</a:t>
            </a:r>
            <a:br/>
            <a:r>
              <a:t>              - branch: stage/dev</a:t>
            </a:r>
            <a:br/>
            <a:r>
              <a:t>                create: true</a:t>
            </a:r>
            <a:br/>
            <a:r>
              <a:t>                path: ./out</a:t>
            </a:r>
            <a:br/>
            <a:r>
              <a:t>        - uses: helm-update-image</a:t>
            </a:r>
            <a:br/>
            <a:r>
              <a:t>          config:</a:t>
            </a:r>
            <a:br/>
            <a:r>
              <a:t>            path: ./out/values.yaml</a:t>
            </a:r>
            <a:br/>
            <a:r>
              <a:t>            images:</a:t>
            </a:r>
            <a:br/>
            <a:r>
              <a:t>              - image: ecommerce/frontend</a:t>
            </a:r>
            <a:br/>
            <a:r>
              <a:t>                key: frontend.image.tag</a:t>
            </a:r>
            <a:br/>
            <a:r>
              <a:t>              - image: ecommerce/api</a:t>
            </a:r>
            <a:br/>
            <a:r>
              <a:t>                key: api.image.tag</a:t>
            </a:r>
            <a:br/>
            <a:r>
              <a:t>        - uses: git-commit</a:t>
            </a:r>
            <a:br/>
            <a:r>
              <a:t>          config:</a:t>
            </a:r>
            <a:br/>
            <a:r>
              <a:t>            path: ./out</a:t>
            </a:r>
            <a:br/>
            <a:r>
              <a:t>        - uses: git-push</a:t>
            </a:r>
            <a:br/>
            <a:r>
              <a:t>          config:</a:t>
            </a:r>
            <a:br/>
            <a:r>
              <a:t>            path: ./out</a:t>
            </a:r>
            <a:br/>
            <a:r>
              <a:t>        - uses: argocd-update</a:t>
            </a:r>
            <a:br/>
            <a:r>
              <a:t>          config:</a:t>
            </a:r>
            <a:br/>
            <a:r>
              <a:t>            apps:</a:t>
            </a:r>
            <a:br/>
            <a:r>
              <a:t>              - name: ecommerce-dev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